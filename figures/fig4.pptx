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3636" y="348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4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1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2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8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8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5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2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7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1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6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867209-FB4E-4E3F-8F54-E7AA94B63CA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9C37A-A3EA-4F1F-87CA-05DE5D0B8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1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B2D6A-FA52-3113-B56B-178891062CF1}"/>
              </a:ext>
            </a:extLst>
          </p:cNvPr>
          <p:cNvSpPr txBox="1"/>
          <p:nvPr/>
        </p:nvSpPr>
        <p:spPr>
          <a:xfrm>
            <a:off x="800100" y="841258"/>
            <a:ext cx="5257800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COLLECTION</a:t>
            </a:r>
          </a:p>
          <a:p>
            <a:pPr algn="ctr"/>
            <a:r>
              <a:rPr lang="en-US" sz="1400" dirty="0"/>
              <a:t>Web of Science Core Collection</a:t>
            </a:r>
            <a:br>
              <a:rPr lang="en-US" sz="1400" dirty="0"/>
            </a:br>
            <a:r>
              <a:rPr lang="en-US" sz="1400" dirty="0"/>
              <a:t>Solo search (119) | Dual search (70)</a:t>
            </a:r>
            <a:br>
              <a:rPr lang="en-US" sz="1400" dirty="0"/>
            </a:br>
            <a:r>
              <a:rPr lang="en-US" sz="1400" dirty="0"/>
              <a:t>Manual review (BMB): unambiguous, English, no duplicates</a:t>
            </a:r>
            <a:br>
              <a:rPr lang="en-US" sz="1400" dirty="0"/>
            </a:br>
            <a:r>
              <a:rPr lang="en-US" sz="1400" dirty="0"/>
              <a:t>56 labeled abstracts (28 dual, 28 solo)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2BA1B-0275-6DC5-977C-E1885564B9A7}"/>
              </a:ext>
            </a:extLst>
          </p:cNvPr>
          <p:cNvSpPr txBox="1"/>
          <p:nvPr/>
        </p:nvSpPr>
        <p:spPr>
          <a:xfrm>
            <a:off x="809173" y="2889935"/>
            <a:ext cx="5257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PREPROCESSING</a:t>
            </a:r>
          </a:p>
          <a:p>
            <a:pPr algn="ctr"/>
            <a:r>
              <a:rPr lang="en-US" sz="1400" dirty="0"/>
              <a:t>Text cleaning and normalization</a:t>
            </a:r>
            <a:br>
              <a:rPr lang="en-US" sz="1400" dirty="0"/>
            </a:br>
            <a:r>
              <a:rPr lang="en-US" sz="1400" dirty="0"/>
              <a:t>BioBERT tokenizer (max 512 tokens, special tokens)</a:t>
            </a:r>
            <a:br>
              <a:rPr lang="en-US" sz="1400" dirty="0"/>
            </a:br>
            <a:r>
              <a:rPr lang="en-US" sz="1400" dirty="0"/>
              <a:t>Stratified 5-fold cross-validation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E1B1A-6A86-5A57-12FB-8C3B913CD753}"/>
              </a:ext>
            </a:extLst>
          </p:cNvPr>
          <p:cNvSpPr txBox="1"/>
          <p:nvPr/>
        </p:nvSpPr>
        <p:spPr>
          <a:xfrm>
            <a:off x="800100" y="4723169"/>
            <a:ext cx="5257800" cy="2339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MODEL TRAINING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EB4DD-1517-12A8-1CE4-0C5675FA81A6}"/>
              </a:ext>
            </a:extLst>
          </p:cNvPr>
          <p:cNvSpPr txBox="1"/>
          <p:nvPr/>
        </p:nvSpPr>
        <p:spPr>
          <a:xfrm>
            <a:off x="943429" y="5085955"/>
            <a:ext cx="2351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Models:</a:t>
            </a:r>
            <a:br>
              <a:rPr lang="en-US" sz="1600" dirty="0"/>
            </a:br>
            <a:r>
              <a:rPr lang="en-US" sz="1600" dirty="0"/>
              <a:t>BERT-base-uncased</a:t>
            </a:r>
            <a:br>
              <a:rPr lang="en-US" sz="1600" dirty="0"/>
            </a:br>
            <a:r>
              <a:rPr lang="en-US" sz="1600" dirty="0"/>
              <a:t>BERT-base-cased</a:t>
            </a:r>
            <a:br>
              <a:rPr lang="en-US" sz="1600" dirty="0"/>
            </a:br>
            <a:r>
              <a:rPr lang="en-US" sz="1600" dirty="0"/>
              <a:t>BioBERT v1.1</a:t>
            </a:r>
            <a:br>
              <a:rPr lang="en-US" sz="1600" dirty="0"/>
            </a:br>
            <a:r>
              <a:rPr lang="en-US" sz="1600" dirty="0" err="1"/>
              <a:t>BiodivBERT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AA0A-00F1-90EB-C67D-5295AAB92BFD}"/>
              </a:ext>
            </a:extLst>
          </p:cNvPr>
          <p:cNvSpPr txBox="1"/>
          <p:nvPr/>
        </p:nvSpPr>
        <p:spPr>
          <a:xfrm>
            <a:off x="3438073" y="5085955"/>
            <a:ext cx="24764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Hyperparameters:</a:t>
            </a:r>
            <a:br>
              <a:rPr lang="en-US" sz="1600" dirty="0"/>
            </a:br>
            <a:r>
              <a:rPr lang="en-US" sz="1600" dirty="0"/>
              <a:t>LR 5e-5, batch 8, max 20 epochs</a:t>
            </a:r>
            <a:br>
              <a:rPr lang="en-US" sz="1600" dirty="0"/>
            </a:br>
            <a:r>
              <a:rPr lang="en-US" sz="1600" dirty="0"/>
              <a:t>Early stopping (patience=3), dropout 0.2</a:t>
            </a:r>
            <a:br>
              <a:rPr lang="en-US" sz="1600" dirty="0"/>
            </a:br>
            <a:r>
              <a:rPr lang="en-US" sz="1600" dirty="0" err="1"/>
              <a:t>AdamW</a:t>
            </a:r>
            <a:r>
              <a:rPr lang="en-US" sz="1600" dirty="0"/>
              <a:t>, stratified 5-fold CV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602F0-04D2-467B-A692-256029CF0505}"/>
              </a:ext>
            </a:extLst>
          </p:cNvPr>
          <p:cNvSpPr txBox="1"/>
          <p:nvPr/>
        </p:nvSpPr>
        <p:spPr>
          <a:xfrm>
            <a:off x="800100" y="8146831"/>
            <a:ext cx="5257800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EVALUATION</a:t>
            </a:r>
          </a:p>
          <a:p>
            <a:pPr algn="ctr"/>
            <a:r>
              <a:rPr lang="en-US" sz="1600" dirty="0"/>
              <a:t>Accuracy, precision, recall, macro F1</a:t>
            </a:r>
            <a:br>
              <a:rPr lang="en-US" sz="1600" dirty="0"/>
            </a:br>
            <a:r>
              <a:rPr lang="en-US" sz="1600" dirty="0"/>
              <a:t>Confusion matrices (TP, FN, FP, TN)</a:t>
            </a:r>
            <a:br>
              <a:rPr lang="en-US" sz="1600" dirty="0"/>
            </a:br>
            <a:r>
              <a:rPr lang="en-US" sz="1600" dirty="0"/>
              <a:t>Training/validation learning curves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078EF-1BC1-A710-D41A-A420554D598A}"/>
              </a:ext>
            </a:extLst>
          </p:cNvPr>
          <p:cNvSpPr txBox="1"/>
          <p:nvPr/>
        </p:nvSpPr>
        <p:spPr>
          <a:xfrm>
            <a:off x="800100" y="10339387"/>
            <a:ext cx="5257800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OUTPUTS</a:t>
            </a:r>
          </a:p>
          <a:p>
            <a:pPr algn="ctr"/>
            <a:r>
              <a:rPr lang="en-US" sz="1600" dirty="0"/>
              <a:t>Fine-tuned models (</a:t>
            </a:r>
            <a:r>
              <a:rPr lang="en-US" sz="1600" dirty="0" err="1"/>
              <a:t>safetensors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>Prediction files (CSV)</a:t>
            </a:r>
            <a:br>
              <a:rPr lang="en-US" sz="1600" dirty="0"/>
            </a:br>
            <a:r>
              <a:rPr lang="en-US" sz="1600" dirty="0"/>
              <a:t>GitHub + </a:t>
            </a:r>
            <a:r>
              <a:rPr lang="en-US" sz="1600" dirty="0" err="1"/>
              <a:t>Zenodo</a:t>
            </a:r>
            <a:endParaRPr lang="en-US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9FF570-D102-DFDF-8831-867CDFD485FB}"/>
              </a:ext>
            </a:extLst>
          </p:cNvPr>
          <p:cNvCxnSpPr>
            <a:cxnSpLocks/>
          </p:cNvCxnSpPr>
          <p:nvPr/>
        </p:nvCxnSpPr>
        <p:spPr>
          <a:xfrm>
            <a:off x="3447146" y="2228850"/>
            <a:ext cx="0" cy="6039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DEC952-E2F7-90A2-A1D2-C493E2B686A9}"/>
              </a:ext>
            </a:extLst>
          </p:cNvPr>
          <p:cNvCxnSpPr>
            <a:cxnSpLocks/>
          </p:cNvCxnSpPr>
          <p:nvPr/>
        </p:nvCxnSpPr>
        <p:spPr>
          <a:xfrm>
            <a:off x="3447146" y="4062084"/>
            <a:ext cx="0" cy="6039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561A72-C0B1-803F-8F39-5AD1F8908448}"/>
              </a:ext>
            </a:extLst>
          </p:cNvPr>
          <p:cNvCxnSpPr>
            <a:cxnSpLocks/>
          </p:cNvCxnSpPr>
          <p:nvPr/>
        </p:nvCxnSpPr>
        <p:spPr>
          <a:xfrm>
            <a:off x="3429000" y="7334250"/>
            <a:ext cx="0" cy="6039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8A58D5-F984-A70A-52EF-DF4C431A56C9}"/>
              </a:ext>
            </a:extLst>
          </p:cNvPr>
          <p:cNvCxnSpPr>
            <a:cxnSpLocks/>
          </p:cNvCxnSpPr>
          <p:nvPr/>
        </p:nvCxnSpPr>
        <p:spPr>
          <a:xfrm>
            <a:off x="3429000" y="9544050"/>
            <a:ext cx="0" cy="6039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889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146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Beatrice Bock</dc:creator>
  <cp:lastModifiedBy>Beatrice Bock</cp:lastModifiedBy>
  <cp:revision>2</cp:revision>
  <dcterms:created xsi:type="dcterms:W3CDTF">2026-01-05T18:11:51Z</dcterms:created>
  <dcterms:modified xsi:type="dcterms:W3CDTF">2026-01-05T18:21:08Z</dcterms:modified>
</cp:coreProperties>
</file>